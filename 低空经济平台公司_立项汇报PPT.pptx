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188720"/>
            <a:ext cx="54864" cy="21945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234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关于联合组建省会城市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低空经济平台公司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51560" y="25603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立项汇报方案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0" y="41148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保密 · 2026年6月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项目摘要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54864" cy="146304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联合省会城市国有平台公司、产业资本方与核心技术企业，组建低空经济综合运营平台公司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43000"/>
            <a:ext cx="54864" cy="1463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合作架构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国企控股51%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战略投资方30%-35%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核心技术方14%-19%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三方协同治理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71800"/>
            <a:ext cx="54864" cy="1463040"/>
          </a:xfrm>
          <a:prstGeom prst="rect">
            <a:avLst/>
          </a:prstGeom>
          <a:solidFill>
            <a:srgbClr val="10AC8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市场窗口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低空经济2035年规模3.5万亿+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城市级空管市场300-500亿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先建先占·数据壁垒高·替换成本极高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71800"/>
            <a:ext cx="54864" cy="1463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盈利模式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3832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短期建设交付(To G)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中期平台服务(To G/B)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长期数据变现(To B/C)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预计第3年盈亏平衡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行业研判：低空经济进入“新基建”战略窗口期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2423160"/>
          </a:xfrm>
          <a:prstGeom prst="roundRect">
            <a:avLst>
              <a:gd name="adj" fmla="val 3019"/>
            </a:avLst>
          </a:prstGeom>
          <a:solidFill>
            <a:srgbClr val="F2F4F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政策历程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02920" cy="256032"/>
          </a:xfrm>
          <a:prstGeom prst="rect">
            <a:avLst>
              <a:gd name="adj" fmla="val 14286"/>
            </a:avLst>
          </a:prstGeom>
          <a:solidFill>
            <a:srgbClr val="2E86D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904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"低空经济"首次写入政府工作报告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984248"/>
            <a:ext cx="502920" cy="256032"/>
          </a:xfrm>
          <a:prstGeom prst="rect">
            <a:avLst>
              <a:gd name="adj" fmla="val 14286"/>
            </a:avLst>
          </a:prstGeom>
          <a:solidFill>
            <a:srgbClr val="2E86D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6596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97280" y="193852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国务院印发《低空经济高质量发展指导意见》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459736"/>
            <a:ext cx="502920" cy="256032"/>
          </a:xfrm>
          <a:prstGeom prst="rect">
            <a:avLst>
              <a:gd name="adj" fmla="val 14286"/>
            </a:avLst>
          </a:prstGeom>
          <a:solidFill>
            <a:srgbClr val="2E86D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4144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97280" y="241401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发改委将低空智联网纳入新基建范畴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935224"/>
            <a:ext cx="502920" cy="256032"/>
          </a:xfrm>
          <a:prstGeom prst="rect">
            <a:avLst>
              <a:gd name="adj" fmla="val 14286"/>
            </a:avLst>
          </a:prstGeom>
          <a:solidFill>
            <a:srgbClr val="2E86D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1693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97280" y="288950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30+省份写入"十五五"规划，省会城市正从"观望"转向"布局"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1005840"/>
            <a:ext cx="4160520" cy="2423160"/>
          </a:xfrm>
          <a:prstGeom prst="roundRect">
            <a:avLst>
              <a:gd name="adj" fmla="val 3019"/>
            </a:avLst>
          </a:prstGeom>
          <a:solidFill>
            <a:srgbClr val="0B1D3A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1463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0" y="1463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6800亿元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19385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193852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2万亿+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241401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2035年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24140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3.5万亿+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92040" y="288950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城市空管市场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75120" y="28895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300-500亿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3611880"/>
            <a:ext cx="9144000" cy="36576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增长驱动力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" y="40233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无人机保有量年增40%+，城市空中交通管理需求急增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00400" y="40233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物流配送、应急救援、城市治理三大场景率先规模化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26480" y="40233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eVTOL(飞行汽车)适航认证加速，2028-2030启动商业运营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竞争格局与差异化定位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011680" cy="54864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中国电科/航天科工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1463040" cy="13716"/>
          </a:xfrm>
          <a:prstGeom prst="rect">
            <a:avLst/>
          </a:prstGeom>
          <a:solidFill>
            <a:srgbClr val="8B95A5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A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技术实力雄厚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EE5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决策链条长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EE5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定制响应慢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23160" y="100584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005840"/>
            <a:ext cx="20116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设备商系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1460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大疆/纵横/亿航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97480" y="1783080"/>
            <a:ext cx="1463040" cy="13716"/>
          </a:xfrm>
          <a:prstGeom prst="rect">
            <a:avLst/>
          </a:prstGeom>
          <a:solidFill>
            <a:srgbClr val="8B95A5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51460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A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硬件优势突出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1460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EE5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缺乏城市级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EE5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集成运营能力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00584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005840"/>
            <a:ext cx="2011680" cy="54864"/>
          </a:xfrm>
          <a:prstGeom prst="rect">
            <a:avLst/>
          </a:prstGeom>
          <a:solidFill>
            <a:srgbClr val="10AC84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互联网平台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0916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美团/顺丰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92040" y="1783080"/>
            <a:ext cx="1463040" cy="13716"/>
          </a:xfrm>
          <a:prstGeom prst="rect">
            <a:avLst/>
          </a:prstGeom>
          <a:solidFill>
            <a:srgbClr val="8B95A5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A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场景创新力强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0916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EE5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聚焦自有闭环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EE5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不外输平台服务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12280" y="100584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12280" y="1005840"/>
            <a:ext cx="201168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地方国资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各城投/交投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086600" y="1783080"/>
            <a:ext cx="1463040" cy="13716"/>
          </a:xfrm>
          <a:prstGeom prst="rect">
            <a:avLst/>
          </a:prstGeom>
          <a:solidFill>
            <a:srgbClr val="8B95A5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A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政策通道+场景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0372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EE5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核心技术缺位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EE5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独立建设成本高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8600" y="3383280"/>
            <a:ext cx="8686800" cy="1188720"/>
          </a:xfrm>
          <a:prstGeom prst="roundRect">
            <a:avLst>
              <a:gd name="adj" fmla="val 6154"/>
            </a:avLst>
          </a:prstGeom>
          <a:solidFill>
            <a:srgbClr val="0B1D3A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我们的差异化定位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三方协同 → 兼具地方资源获取能力 + 市场化运营效率 + 核心技术自主可控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填补省会城市“既懂技术又懂运营的地方低空综合平台”市场空白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以城市低空数字底座为核心、多场景应用为触角的“平台型”商业模式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合作架构：三方协同治理模型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2F4F7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743200" cy="54864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地方国企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57400" y="1115568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2E86DE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111556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536192"/>
            <a:ext cx="2194560" cy="13716"/>
          </a:xfrm>
          <a:prstGeom prst="rect">
            <a:avLst/>
          </a:prstGeom>
          <a:solidFill>
            <a:srgbClr val="8B95A5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5819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核心职责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平台“链主”，统筹战略方向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争取政策支持与空域资源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24688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统筹公共场景需求归集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27889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提供实物出资(土地/机房)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31089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确保公益属性与合规底线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2468880" cy="502920"/>
          </a:xfrm>
          <a:prstGeom prst="roundRect">
            <a:avLst>
              <a:gd name="adj" fmla="val 9091"/>
            </a:avLst>
          </a:prstGeom>
          <a:solidFill>
            <a:srgbClr val="2E86DE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5204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控股分红+资产增值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154680" y="96012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2F4F7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960120"/>
            <a:ext cx="27432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战略投资方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83480" y="1115568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111556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30-35%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29000" y="1536192"/>
            <a:ext cx="2194560" cy="13716"/>
          </a:xfrm>
          <a:prstGeom prst="rect">
            <a:avLst/>
          </a:prstGeom>
          <a:solidFill>
            <a:srgbClr val="8B95A5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15819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核心职责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91840" y="18288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注入首期资本金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91840" y="21488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导入产业链上下游资源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91840" y="24688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主导市场化运营管理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91840" y="27889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商业场景拓展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91840" y="31089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后续融资路径规划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91840" y="3520440"/>
            <a:ext cx="2468880" cy="502920"/>
          </a:xfrm>
          <a:prstGeom prst="roundRect">
            <a:avLst>
              <a:gd name="adj" fmla="val 9091"/>
            </a:avLst>
          </a:prstGeom>
          <a:solidFill>
            <a:srgbClr val="FF6B35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35204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股权分红+协同收益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080760" y="96012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2F4F7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96012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核心技术方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909560" y="1115568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7909560" y="111556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14-19%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55080" y="1536192"/>
            <a:ext cx="2194560" cy="13716"/>
          </a:xfrm>
          <a:prstGeom prst="rect">
            <a:avLst/>
          </a:prstGeom>
          <a:solidFill>
            <a:srgbClr val="8B95A5">
              <a:alpha val="5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15819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核心职责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0" y="18288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监管平台USS/UTM研发迭代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17920" y="21488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反无人机系统部署运维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17920" y="24688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AI多源数据融合算法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17920" y="27889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CNS一体化方案设计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17920" y="31089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技术标准制定+专利布局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217920" y="3520440"/>
            <a:ext cx="2468880" cy="502920"/>
          </a:xfrm>
          <a:prstGeom prst="roundRect">
            <a:avLst>
              <a:gd name="adj" fmla="val 9091"/>
            </a:avLst>
          </a:prstGeom>
          <a:solidFill>
            <a:srgbClr val="00B4D8">
              <a:alpha val="12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0" y="35204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技术入股+长期运维合同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297680"/>
            <a:ext cx="9144000" cy="36576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4074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公司治理：董事会5-7席（国企提名含董事长） | 总经理市场化选聘 | 2/3以上表决重大事项 | 三方各1席监事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运营模式：四层复合盈利体系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4864" cy="77724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60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 建设交付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978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第1-2年 | 占45%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低空智能网联系统EPC总承包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15-30个标准起降场建设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800600" y="128016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监管中心软硬件一体化交付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00600" y="15361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合同金额: 8000万-2亿元/城市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 平台服务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1938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第2年起 | 占35%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“一网统飞”政务平台 300-600万/年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49631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CNS网络接入费 200-500万/年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00600" y="224028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低空数据产品 100-300万/年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00600" y="249631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持续性年费制收入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54864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 商业运营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28986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第2-3年起 | 占15-20%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320040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低空物流配送·城市空中巡检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345643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医疗应急救援·低空文旅体验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00600" y="320040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按次/按里程收费·毛利率50%+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00600" y="345643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年收入: 800-1500万(第3年)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886200"/>
            <a:ext cx="54864" cy="777240"/>
          </a:xfrm>
          <a:prstGeom prst="rect">
            <a:avLst/>
          </a:prstGeom>
          <a:solidFill>
            <a:srgbClr val="10AC84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A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第四层 生态衍生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0" y="3858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第4年起 | 占5-10%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416052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数据资产交易·低空保险渠道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441655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飞手培训认证(500-1000人/年)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00600" y="416052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飞行器维保(MRO)后市场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00600" y="441655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知识产权授权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收入预测概览（简化模型·单一省会城市·单位：万元）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年度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建设收入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平台服务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商业运营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合计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第1年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5000-8000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5000-8000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第2年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3000-5000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500-800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200-500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3700-6300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第3年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1000-2000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1000-1500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800-1500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2800-5000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第4年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500-1000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1500-2500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1500-2500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3500-6000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第5年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500-1000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2000-3000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2500-4000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5000-8000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5年累计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10,000-17,000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5,000-7,800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5,000-8,500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86DE"/>
                          </a:solidFill>
                        </a:rPr>
                        <a:t>20,000-31,300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9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注：以上为中等规模省会城市简化测算，未含生态衍生收入；毛利率建设期15%-25%，运营期50%-60%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31520" y="429768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32511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累计营收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2960" y="44988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2-3.13亿元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477316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5年（未含生态收入）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200400" y="429768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/>
        </p:spPr>
      </p:sp>
      <p:sp>
        <p:nvSpPr>
          <p:cNvPr id="11" name="Text 8"/>
          <p:cNvSpPr/>
          <p:nvPr/>
        </p:nvSpPr>
        <p:spPr>
          <a:xfrm>
            <a:off x="3291840" y="432511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盈亏平衡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291840" y="44988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第3年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291840" y="477316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持续性收入占比超35%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669280" y="429768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/>
        </p:spPr>
      </p:sp>
      <p:sp>
        <p:nvSpPr>
          <p:cNvPr id="15" name="Text 12"/>
          <p:cNvSpPr/>
          <p:nvPr/>
        </p:nvSpPr>
        <p:spPr>
          <a:xfrm>
            <a:off x="5760720" y="432511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复制乘数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760720" y="44988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×N城市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760720" y="477316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每城独立运营可复制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实施路径与里程碑计划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8595360" cy="54864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1216152"/>
            <a:ext cx="182880" cy="18288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32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筹备与签约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755648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2E86DE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556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M1-M3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签署合作意向书(MOU)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5760" y="25328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组建联合筹备工作组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291693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启动法律/财务/技术尽调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" y="330098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完成可研报告编制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65760" y="36850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拟定核心法律文件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337560" y="1216152"/>
            <a:ext cx="182880" cy="1828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2514600" y="932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1460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公司设立·首批落地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80360" y="1755648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00B4D8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880360" y="17556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M4-M8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1460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合资公司工商注册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514600" y="25328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政府购买服务签约(3-5部门)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514600" y="291693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监管平台V1.0开发启动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514600" y="330098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首批10-15起降场选址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14600" y="36850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申报专项债/产业基金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486400" y="1216152"/>
            <a:ext cx="182880" cy="1828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932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建设交付·初期运营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0" y="1755648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FF6B35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17556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M9-M18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6344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智联网一期建成(50-80k㎡)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63440" y="25328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平台V1.0上线(50+无人机)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63440" y="291693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签约1-2物流合作方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663440" y="330098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首批平台服务费收入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63440" y="36850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启动A轮融资(如需)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635240" y="1216152"/>
            <a:ext cx="182880" cy="182880"/>
          </a:xfrm>
          <a:prstGeom prst="ellipse">
            <a:avLst/>
          </a:prstGeom>
          <a:solidFill>
            <a:srgbClr val="10AC84"/>
          </a:solidFill>
          <a:ln/>
        </p:spPr>
      </p:sp>
      <p:sp>
        <p:nvSpPr>
          <p:cNvPr id="36" name="Text 34"/>
          <p:cNvSpPr/>
          <p:nvPr/>
        </p:nvSpPr>
        <p:spPr>
          <a:xfrm>
            <a:off x="6812280" y="932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A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阶段四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1228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规模化扩展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178040" y="1755648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10AC84">
              <a:alpha val="1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178040" y="17556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A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M19-M36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1228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智联网二期覆盖全市域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812280" y="25328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商业运营收入占比&gt;30%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812280" y="291693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数据资产评估挂牌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812280" y="330098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达到盈亏平衡点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812280" y="36850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启动省会城市模式输出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0" y="4297680"/>
            <a:ext cx="9144000" cy="36576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关键假设：空域审批M3前完成 ｜ 政府购买服务M6签约 ｜ 首笔资本金M4到位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关键风险识别与应对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57400" cy="1645920"/>
          </a:xfrm>
          <a:prstGeom prst="roundRect">
            <a:avLst>
              <a:gd name="adj" fmla="val 4444"/>
            </a:avLst>
          </a:prstGeom>
          <a:solidFill>
            <a:srgbClr val="13294B"/>
          </a:solidFill>
          <a:ln w="12700">
            <a:solidFill>
              <a:srgbClr val="EE5A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100584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EE5A24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1005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5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0241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空域审批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依赖军民航批复，周期不确定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7830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国企牵头对接·空域授权前置·UOM平台对接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468880" y="914400"/>
            <a:ext cx="2057400" cy="1645920"/>
          </a:xfrm>
          <a:prstGeom prst="roundRect">
            <a:avLst>
              <a:gd name="adj" fmla="val 4444"/>
            </a:avLst>
          </a:prstGeom>
          <a:solidFill>
            <a:srgbClr val="13294B"/>
          </a:solidFill>
          <a:ln w="12700">
            <a:solidFill>
              <a:srgbClr val="EE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100584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EE5A24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1005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5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78608" y="10241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考核错配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78608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国企考核短期vs基建长周期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78608" y="17830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容错纠错机制·5年考核·特别国债+专项债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2057400" cy="1645920"/>
          </a:xfrm>
          <a:prstGeom prst="roundRect">
            <a:avLst>
              <a:gd name="adj" fmla="val 4444"/>
            </a:avLst>
          </a:prstGeom>
          <a:solidFill>
            <a:srgbClr val="13294B"/>
          </a:solidFill>
          <a:ln w="12700">
            <a:solidFill>
              <a:srgbClr val="EE5A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00584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EE5A24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005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5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73168" y="10241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技术安全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技术迭代快·安全漏洞风险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73168" y="17830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等保三级·研发投入≥8%·年度安全审计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858000" y="914400"/>
            <a:ext cx="2057400" cy="1645920"/>
          </a:xfrm>
          <a:prstGeom prst="roundRect">
            <a:avLst>
              <a:gd name="adj" fmla="val 4444"/>
            </a:avLst>
          </a:prstGeom>
          <a:solidFill>
            <a:srgbClr val="13294B"/>
          </a:solidFill>
          <a:ln w="12700">
            <a:solidFill>
              <a:srgbClr val="FECA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100584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FECA57">
              <a:alpha val="2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1005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C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67728" y="10241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人才流失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67728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复合型人才稀缺·被挖角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967728" y="17830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竞业限制·员工持股10-15%·双备份团队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74320" y="2788920"/>
            <a:ext cx="2057400" cy="1645920"/>
          </a:xfrm>
          <a:prstGeom prst="roundRect">
            <a:avLst>
              <a:gd name="adj" fmla="val 4444"/>
            </a:avLst>
          </a:prstGeom>
          <a:solidFill>
            <a:srgbClr val="13294B"/>
          </a:solidFill>
          <a:ln w="12700">
            <a:solidFill>
              <a:srgbClr val="FECA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7360" y="288036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FECA57">
              <a:alpha val="2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737360" y="2880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C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048" y="289864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政策变动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领导更替·财政支持波动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4048" y="36576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列入重大项目·多部门框架协议·国企控股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468880" y="2788920"/>
            <a:ext cx="2057400" cy="1645920"/>
          </a:xfrm>
          <a:prstGeom prst="roundRect">
            <a:avLst>
              <a:gd name="adj" fmla="val 4444"/>
            </a:avLst>
          </a:prstGeom>
          <a:solidFill>
            <a:srgbClr val="13294B"/>
          </a:solidFill>
          <a:ln w="12700">
            <a:solidFill>
              <a:srgbClr val="FECA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31920" y="288036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FECA57">
              <a:alpha val="2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931920" y="2880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C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78608" y="289864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578608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巨头携资本入局·价格战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578608" y="36576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政务场景先发壁垒·数据资产护城河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663440" y="2788920"/>
            <a:ext cx="2057400" cy="1645920"/>
          </a:xfrm>
          <a:prstGeom prst="roundRect">
            <a:avLst>
              <a:gd name="adj" fmla="val 4444"/>
            </a:avLst>
          </a:prstGeom>
          <a:solidFill>
            <a:srgbClr val="13294B"/>
          </a:solidFill>
          <a:ln w="12700">
            <a:solidFill>
              <a:srgbClr val="10AC8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0" y="288036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10AC84">
              <a:alpha val="2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126480" y="2880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A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73168" y="289864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退出缺位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73168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合作中止无定价机制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73168" y="36576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退出场景条款·3年锁定期·独立第三方估值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下一步行动建议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2F4F7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54864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43000"/>
            <a:ext cx="384048" cy="384048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1430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 · 1个月内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2194560" cy="13716"/>
          </a:xfrm>
          <a:prstGeom prst="rect">
            <a:avLst/>
          </a:prstGeom>
          <a:solidFill>
            <a:srgbClr val="8B95A5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288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三方高层会晤，签署保密协议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2128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指定联络人，建立沟通群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5968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交换企业简介/资质/核心技术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2F4F7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960120"/>
            <a:ext cx="27432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Shape 13"/>
          <p:cNvSpPr/>
          <p:nvPr/>
        </p:nvSpPr>
        <p:spPr>
          <a:xfrm>
            <a:off x="3337560" y="1143000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0" y="11430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 · 1-3个月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691640"/>
            <a:ext cx="2194560" cy="13716"/>
          </a:xfrm>
          <a:prstGeom prst="rect">
            <a:avLst/>
          </a:prstGeom>
          <a:solidFill>
            <a:srgbClr val="8B95A5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18288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委托第三方联合尽调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22128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编制可行性研究报告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25968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向市级领导正式汇报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298094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盘点首批政务需求清单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96012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2F4F7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960120"/>
            <a:ext cx="2743200" cy="54864"/>
          </a:xfrm>
          <a:prstGeom prst="rect">
            <a:avLst/>
          </a:prstGeom>
          <a:solidFill>
            <a:srgbClr val="10AC84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1143000"/>
            <a:ext cx="384048" cy="384048"/>
          </a:xfrm>
          <a:prstGeom prst="ellipse">
            <a:avLst/>
          </a:prstGeom>
          <a:solidFill>
            <a:srgbClr val="10AC84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6560" y="11430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 · 3-6个月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1691640"/>
            <a:ext cx="2194560" cy="13716"/>
          </a:xfrm>
          <a:prstGeom prst="rect">
            <a:avLst/>
          </a:prstGeom>
          <a:solidFill>
            <a:srgbClr val="8B95A5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18288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签署合资协议+章程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09360" y="22128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各方法定比例注资到位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9360" y="25968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工商登记·团队到位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9360" y="298094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政务场景合同签约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33649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监管平台V1.0开发启动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069080"/>
            <a:ext cx="9144000" cy="36576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2519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成功关键：三个月内完成尽调与可研 → 六个月完成公司注册与首单签约 → 十八个月平台上线运营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4630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657600" y="2468880"/>
            <a:ext cx="18288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743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合作共赢 · 共创低空经济新篇章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保密文件 · 未经授权不得外传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低空经济平台公司立项汇报方案</dc:title>
  <dc:subject>PptxGenJS Presentation</dc:subject>
  <dc:creator>联合筹备工作组</dc:creator>
  <cp:lastModifiedBy>联合筹备工作组</cp:lastModifiedBy>
  <cp:revision>1</cp:revision>
  <dcterms:created xsi:type="dcterms:W3CDTF">2026-06-12T09:25:08Z</dcterms:created>
  <dcterms:modified xsi:type="dcterms:W3CDTF">2026-06-12T09:25:08Z</dcterms:modified>
</cp:coreProperties>
</file>