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股权比例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6B6B"/>
              </a:solidFill>
              <a:effectLst/>
            </c:spPr>
          </c:dPt>
          <c:dPt>
            <c:idx val="1"/>
            <c:bubble3D val="0"/>
            <c:spPr>
              <a:solidFill>
                <a:srgbClr val="C9941A"/>
              </a:solidFill>
              <a:effectLst/>
            </c:spPr>
          </c:dPt>
          <c:dPt>
            <c:idx val="2"/>
            <c:bubble3D val="0"/>
            <c:spPr>
              <a:solidFill>
                <a:srgbClr val="0F2B46"/>
              </a:solidFill>
              <a:effectLst/>
            </c:spPr>
          </c:dPt>
          <c:dPt>
            <c:idx val="3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bubble3D val="0"/>
            <c:spPr>
              <a:solidFill>
                <a:srgbClr val="6BBF8A"/>
              </a:solidFill>
              <a:effectLst/>
            </c:spPr>
          </c:dPt>
          <c:dPt>
            <c:idx val="5"/>
            <c:bubble3D val="0"/>
            <c:spPr>
              <a:solidFill>
                <a:srgbClr val="D4841A"/>
              </a:solidFill>
              <a:effectLst/>
            </c:spPr>
          </c:dPt>
          <c:dPt>
            <c:idx val="6"/>
            <c:bubble3D val="0"/>
            <c:spPr>
              <a:solidFill>
                <a:srgbClr val="8FA3B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莫景标 29%</c:v>
                </c:pt>
                <c:pt idx="1">
                  <c:v>符发 25%</c:v>
                </c:pt>
                <c:pt idx="2">
                  <c:v>陈兰 21%</c:v>
                </c:pt>
                <c:pt idx="3">
                  <c:v>王颜天 8%</c:v>
                </c:pt>
                <c:pt idx="4">
                  <c:v>吴多飞 7%</c:v>
                </c:pt>
                <c:pt idx="5">
                  <c:v>陈丰辉 5%</c:v>
                </c:pt>
                <c:pt idx="6">
                  <c:v>陈安义 5%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29</c:v>
                </c:pt>
                <c:pt idx="1">
                  <c:v>25</c:v>
                </c:pt>
                <c:pt idx="2">
                  <c:v>21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E3A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6B6B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股权架构调整方案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暨京王（海南）控股有限公司设立说明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657600" cy="0"/>
          </a:xfrm>
          <a:prstGeom prst="line">
            <a:avLst/>
          </a:prstGeom>
          <a:noFill/>
          <a:ln w="25400">
            <a:solidFill>
              <a:srgbClr val="C99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华检联（海南）检测技术有限公司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2011680" cy="2011680"/>
          </a:xfrm>
          <a:prstGeom prst="ellipse">
            <a:avLst/>
          </a:prstGeom>
          <a:solidFill>
            <a:srgbClr val="0A6B6B">
              <a:alpha val="30000"/>
            </a:srgbClr>
          </a:solidFill>
          <a:ln w="19050">
            <a:solidFill>
              <a:srgbClr val="C994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280160"/>
            <a:ext cx="1280160" cy="1280160"/>
          </a:xfrm>
          <a:prstGeom prst="ellipse">
            <a:avLst/>
          </a:prstGeom>
          <a:solidFill>
            <a:srgbClr val="C9941A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64592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调整背景与目的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为什么进行本次股权架构调整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91440" cy="1645920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80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现有股权结构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华检联当前7位股东持股情况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91440" cy="16459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83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目标架构设计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三层股权结构与权益分配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00400"/>
            <a:ext cx="91440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383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66928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9204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操作步骤与时间安排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调整背景与目的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调整背景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公司经过近9年发展，需要更规范的治理结构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现有股权分散，决策效率受限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核心人员激励与岗位绑定机制缺失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海南自贸港政策机遇期——税收优惠窗口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155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调整目的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1691640"/>
            <a:ext cx="411480" cy="411480"/>
          </a:xfrm>
          <a:prstGeom prst="ellipse">
            <a:avLst/>
          </a:prstGeom>
          <a:solidFill>
            <a:srgbClr val="0A6B6B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税务优化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通过控股公司持股，分红可递延分配，享受海南自贸港15%企业所得税优惠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697480"/>
            <a:ext cx="411480" cy="411480"/>
          </a:xfrm>
          <a:prstGeom prst="ellipse">
            <a:avLst/>
          </a:prstGeom>
          <a:solidFill>
            <a:srgbClr val="0A6B6B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权责对等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实际经营负责人持股100%投票权，其他股东保留分红权，决策高效统一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703320"/>
            <a:ext cx="411480" cy="411480"/>
          </a:xfrm>
          <a:prstGeom prst="ellipse">
            <a:avLst/>
          </a:prstGeom>
          <a:solidFill>
            <a:srgbClr val="0A6B6B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人才激励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023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设立合伙企业持股平台，股权与岗位深度绑定，吸引和留住核心骨干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海南自贸港政策支持 · 2026年股权激励窗口期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现有股权结构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华检联（海南）检测技术有限公司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注册资本 1000万元  ·  实缴 290万元  ·  2016年成立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373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83080"/>
          <a:ext cx="3931920" cy="301752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822960"/>
              </a:tblGrid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持股比例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实缴金额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莫景标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84.1万元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72.5万元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实际经营负责人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60.9万元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王颜天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23.2万元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吴多飞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20.3万元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陈丰辉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14.5万元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陈安义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14.5万元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846320" y="4663440"/>
            <a:ext cx="3931920" cy="365760"/>
          </a:xfrm>
          <a:prstGeom prst="rect">
            <a:avLst/>
          </a:prstGeom>
          <a:solidFill>
            <a:srgbClr val="C9941A">
              <a:alpha val="2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8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股权分散 · 决策效率受限 · 高管激励缺失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目标架构设计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468880" cy="274320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50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京王（海南）控股有限公司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税务筹划 · 股权管理平台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29968" y="950976"/>
            <a:ext cx="658368" cy="2743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9" name="Text 7"/>
          <p:cNvSpPr/>
          <p:nvPr/>
        </p:nvSpPr>
        <p:spPr>
          <a:xfrm>
            <a:off x="2029968" y="9509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符发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投票权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84048" y="1572768"/>
            <a:ext cx="2249424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72768"/>
            <a:ext cx="13946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778691" y="1572768"/>
            <a:ext cx="8547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" y="1755648"/>
            <a:ext cx="2249424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1755648"/>
            <a:ext cx="139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莫景标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78691" y="1755648"/>
            <a:ext cx="854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2011680"/>
            <a:ext cx="2249424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011680"/>
            <a:ext cx="139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　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78691" y="2011680"/>
            <a:ext cx="854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2267712"/>
            <a:ext cx="2249424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267712"/>
            <a:ext cx="139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　兰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78691" y="2267712"/>
            <a:ext cx="854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523744"/>
            <a:ext cx="2249424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523744"/>
            <a:ext cx="139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王颜天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78691" y="2523744"/>
            <a:ext cx="854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" y="2779776"/>
            <a:ext cx="2249424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2779776"/>
            <a:ext cx="139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吴多飞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78691" y="2779776"/>
            <a:ext cx="854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" y="3035808"/>
            <a:ext cx="2249424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035808"/>
            <a:ext cx="139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陈丰辉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78691" y="3035808"/>
            <a:ext cx="854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84048" y="3291840"/>
            <a:ext cx="2249424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291840"/>
            <a:ext cx="139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陈安义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78691" y="3291840"/>
            <a:ext cx="854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401568"/>
            <a:ext cx="2468880" cy="237744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4015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7人共同持股 · 符发100%投票权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0" y="1508760"/>
            <a:ext cx="457200" cy="0"/>
          </a:xfrm>
          <a:prstGeom prst="line">
            <a:avLst/>
          </a:prstGeom>
          <a:noFill/>
          <a:ln w="19050">
            <a:solidFill>
              <a:srgbClr val="C9941A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2788920" y="1344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0" y="3017520"/>
            <a:ext cx="457200" cy="0"/>
          </a:xfrm>
          <a:prstGeom prst="line">
            <a:avLst/>
          </a:prstGeom>
          <a:noFill/>
          <a:ln w="25400">
            <a:solidFill>
              <a:srgbClr val="0A6B6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2788920" y="2834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持股90%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26080" y="914400"/>
            <a:ext cx="6035040" cy="1737360"/>
          </a:xfrm>
          <a:prstGeom prst="rect">
            <a:avLst/>
          </a:prstGeom>
          <a:solidFill>
            <a:srgbClr val="C994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926080" y="914400"/>
            <a:ext cx="6035040" cy="384048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0" y="93268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京王（海南）企业管理合伙企业（有限合伙）  —  高管持股平台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63240" y="1389888"/>
            <a:ext cx="5760720" cy="658368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44" name="Text 42"/>
          <p:cNvSpPr/>
          <p:nvPr/>
        </p:nvSpPr>
        <p:spPr>
          <a:xfrm>
            <a:off x="3127248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普通合伙人（GP）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27248" y="1673352"/>
            <a:ext cx="5632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　发  —  100%投票权 · 执行合伙事务 · 担任执行事务合伙人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63240" y="2139696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7248" y="21579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有限合伙人（LP）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127248" y="235915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10名骨干  —  仅享受分红权 · 不执行合伙事务 · 离职即强制退伙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97680" y="2651760"/>
            <a:ext cx="0" cy="274320"/>
          </a:xfrm>
          <a:prstGeom prst="line">
            <a:avLst/>
          </a:prstGeom>
          <a:noFill/>
          <a:ln w="19050">
            <a:solidFill>
              <a:srgbClr val="C9941A"/>
            </a:solidFill>
            <a:prstDash val="dash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301752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LP间接持股 10%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0" y="2971800"/>
            <a:ext cx="6035040" cy="1188720"/>
          </a:xfrm>
          <a:prstGeom prst="rect">
            <a:avLst/>
          </a:prstGeom>
          <a:solidFill>
            <a:srgbClr val="0A6B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926080" y="302666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华检联（海南）检测技术有限公司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926080" y="34107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建设工程质量检测 · 主营业务平台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26080" y="3749040"/>
            <a:ext cx="3017520" cy="347472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55" name="Shape 53"/>
          <p:cNvSpPr/>
          <p:nvPr/>
        </p:nvSpPr>
        <p:spPr>
          <a:xfrm>
            <a:off x="5943600" y="3749040"/>
            <a:ext cx="3017520" cy="347472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56" name="Text 54"/>
          <p:cNvSpPr/>
          <p:nvPr/>
        </p:nvSpPr>
        <p:spPr>
          <a:xfrm>
            <a:off x="292608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京王控股持股 90%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94360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京王合伙 LP 10%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59" name="Text 57"/>
          <p:cNvSpPr/>
          <p:nvPr/>
        </p:nvSpPr>
        <p:spPr>
          <a:xfrm>
            <a:off x="320040" y="4654296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符发（GP）：持京王控股25% + 京王合伙GP → 控制京王控股100%投票权，间接控制华检联100%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6位原股东：退出华检联，进入京王控股（莫29%·陈兰21%·王颜天8%·吴多飞7%·陈丰辉5%·陈安义5%），保留分红权，无投票权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10名骨干：通过京王合伙LP间接持华检联10%，股权与岗位强绑定（晋升增份额，降级/离职减份额）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股权转让测算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华检联估值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0.2元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78608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每股转让价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0元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0016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个人所得税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21424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21424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180万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21424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控股收购总成本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265176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1188720"/>
                <a:gridCol w="1371600"/>
                <a:gridCol w="1371600"/>
                <a:gridCol w="2286000"/>
              </a:tblGrid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转让价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莫景标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亏损232万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亏损200万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亏损168万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王颜天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亏损64万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吴多飞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亏损56万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陈丰辉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亏损40万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陈安义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亏损40万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1000万股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200万元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均亏损 → 免税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solidFill>
            <a:srgbClr val="2E8B57">
              <a:alpha val="1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727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估值低于实缴总额（200万 &lt; 290万），所有股东均为亏损转让，无需缴纳个人所得税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股东权益对比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7764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调整前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361188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32588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投票权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分红权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莫景标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按29%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按25%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按21%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王颜天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按8%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吴多飞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按7%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陈丰辉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按5%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陈安义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按5%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960120"/>
            <a:ext cx="3977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960120"/>
            <a:ext cx="3977640" cy="502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1005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36192"/>
          <a:ext cx="361188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143000"/>
              </a:tblGrid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投票权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分红权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符发（您）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100%（GP）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持京王控股25%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莫景标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持京王控股29%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持京王控股21%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王颜天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持京王控股8%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吴多飞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持京王控股7%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陈丰辉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持京王控股5%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陈安义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持京王控股5%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10名骨干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合伙协议约定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892040" y="4572000"/>
            <a:ext cx="3611880" cy="576072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3" name="Text 9"/>
          <p:cNvSpPr/>
          <p:nvPr/>
        </p:nvSpPr>
        <p:spPr>
          <a:xfrm>
            <a:off x="4983480" y="459028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6位原股东：京王控股分红权 | 符发：100%投票权 | 10骨干：合伙LP分红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实施步骤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325880" cy="73152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" y="1188720"/>
            <a:ext cx="548640" cy="54864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12140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工商核名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542032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线上申请：京王控股 + 京王合伙企业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5780" y="3429000"/>
            <a:ext cx="1005840" cy="347472"/>
          </a:xfrm>
          <a:prstGeom prst="rect">
            <a:avLst/>
          </a:prstGeom>
          <a:solidFill>
            <a:srgbClr val="0F2B4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2468880"/>
            <a:ext cx="109728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10512" y="100584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10512" y="1005840"/>
            <a:ext cx="1325880" cy="73152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9132" y="1188720"/>
            <a:ext cx="548640" cy="548640"/>
          </a:xfrm>
          <a:prstGeom prst="ellipse">
            <a:avLst/>
          </a:prstGeom>
          <a:solidFill>
            <a:srgbClr val="0A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2199132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10512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83664" y="212140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净资产评估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83664" y="2542032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聘请评估机构出具评估报告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确认转让基准价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70532" y="3429000"/>
            <a:ext cx="1005840" cy="347472"/>
          </a:xfrm>
          <a:prstGeom prst="rect">
            <a:avLst/>
          </a:prstGeom>
          <a:solidFill>
            <a:srgbClr val="0A6B6B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970532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36392" y="2468880"/>
            <a:ext cx="109728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55264" y="100584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55264" y="1005840"/>
            <a:ext cx="1325880" cy="73152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26" name="Shape 24"/>
          <p:cNvSpPr/>
          <p:nvPr/>
        </p:nvSpPr>
        <p:spPr>
          <a:xfrm>
            <a:off x="3643884" y="1188720"/>
            <a:ext cx="548640" cy="548640"/>
          </a:xfrm>
          <a:prstGeom prst="ellipse">
            <a:avLst/>
          </a:prstGeom>
          <a:solidFill>
            <a:srgbClr val="0A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3643884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55264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28416" y="212140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税务沟通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28416" y="2542032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与海口税务局确认转让定价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及免税口径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15284" y="3429000"/>
            <a:ext cx="1005840" cy="347472"/>
          </a:xfrm>
          <a:prstGeom prst="rect">
            <a:avLst/>
          </a:prstGeom>
          <a:solidFill>
            <a:srgbClr val="0A6B6B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15284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81144" y="2468880"/>
            <a:ext cx="109728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700016" y="100584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0016" y="1005840"/>
            <a:ext cx="1325880" cy="73152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6" name="Shape 34"/>
          <p:cNvSpPr/>
          <p:nvPr/>
        </p:nvSpPr>
        <p:spPr>
          <a:xfrm>
            <a:off x="5088636" y="1188720"/>
            <a:ext cx="548640" cy="548640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37" name="Text 35"/>
          <p:cNvSpPr/>
          <p:nvPr/>
        </p:nvSpPr>
        <p:spPr>
          <a:xfrm>
            <a:off x="5088636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700016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212140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协议签署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2542032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7份股权转让协议签署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全体股东确认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60036" y="3429000"/>
            <a:ext cx="1005840" cy="347472"/>
          </a:xfrm>
          <a:prstGeom prst="rect">
            <a:avLst/>
          </a:prstGeom>
          <a:solidFill>
            <a:srgbClr val="C9941A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60036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25896" y="2468880"/>
            <a:ext cx="109728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44768" y="100584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44768" y="1005840"/>
            <a:ext cx="1325880" cy="73152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46" name="Shape 44"/>
          <p:cNvSpPr/>
          <p:nvPr/>
        </p:nvSpPr>
        <p:spPr>
          <a:xfrm>
            <a:off x="6533388" y="1188720"/>
            <a:ext cx="548640" cy="548640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47" name="Text 45"/>
          <p:cNvSpPr/>
          <p:nvPr/>
        </p:nvSpPr>
        <p:spPr>
          <a:xfrm>
            <a:off x="6533388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144768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212140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工商变更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2542032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华检联股东变更登记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京王控股/合伙设立登记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4788" y="3429000"/>
            <a:ext cx="1005840" cy="347472"/>
          </a:xfrm>
          <a:prstGeom prst="rect">
            <a:avLst/>
          </a:prstGeom>
          <a:solidFill>
            <a:srgbClr val="C9941A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04788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1-2周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70648" y="2468880"/>
            <a:ext cx="109728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589520" y="1005840"/>
            <a:ext cx="1325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589520" y="1005840"/>
            <a:ext cx="13258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6" name="Shape 54"/>
          <p:cNvSpPr/>
          <p:nvPr/>
        </p:nvSpPr>
        <p:spPr>
          <a:xfrm>
            <a:off x="7978140" y="118872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57" name="Text 55"/>
          <p:cNvSpPr/>
          <p:nvPr/>
        </p:nvSpPr>
        <p:spPr>
          <a:xfrm>
            <a:off x="7978140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589520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第6步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662672" y="212140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配套文件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662672" y="2542032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公司章程 + 合伙协议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股权激励管理办法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49540" y="3429000"/>
            <a:ext cx="1005840" cy="347472"/>
          </a:xfrm>
          <a:prstGeom prst="rect">
            <a:avLst/>
          </a:prstGeom>
          <a:solidFill>
            <a:srgbClr val="0D7377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74954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160520"/>
            <a:ext cx="8412480" cy="45720"/>
          </a:xfrm>
          <a:prstGeom prst="rect">
            <a:avLst/>
          </a:prstGeom>
          <a:solidFill>
            <a:srgbClr val="0F2B46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4400" y="4069080"/>
            <a:ext cx="228600" cy="22860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第1-3天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359152" y="4069080"/>
            <a:ext cx="228600" cy="22860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67" name="Text 65"/>
          <p:cNvSpPr/>
          <p:nvPr/>
        </p:nvSpPr>
        <p:spPr>
          <a:xfrm>
            <a:off x="2084832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803904" y="4069080"/>
            <a:ext cx="228600" cy="22860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69" name="Text 67"/>
          <p:cNvSpPr/>
          <p:nvPr/>
        </p:nvSpPr>
        <p:spPr>
          <a:xfrm>
            <a:off x="3529584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248656" y="4069080"/>
            <a:ext cx="228600" cy="22860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71" name="Text 69"/>
          <p:cNvSpPr/>
          <p:nvPr/>
        </p:nvSpPr>
        <p:spPr>
          <a:xfrm>
            <a:off x="4974336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693408" y="4069080"/>
            <a:ext cx="228600" cy="22860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73" name="Text 71"/>
          <p:cNvSpPr/>
          <p:nvPr/>
        </p:nvSpPr>
        <p:spPr>
          <a:xfrm>
            <a:off x="6419088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第5-6周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138160" y="4069080"/>
            <a:ext cx="228600" cy="22860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75" name="Text 73"/>
          <p:cNvSpPr/>
          <p:nvPr/>
        </p:nvSpPr>
        <p:spPr>
          <a:xfrm>
            <a:off x="786384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858000" y="4645152"/>
            <a:ext cx="1920240" cy="4114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77" name="Text 75"/>
          <p:cNvSpPr/>
          <p:nvPr/>
        </p:nvSpPr>
        <p:spPr>
          <a:xfrm>
            <a:off x="6858000" y="4663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预计总周期：2个月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高管持股平台设计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0" y="228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10名骨干 · 股权与岗位绑定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合伙企业架构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1600200"/>
            <a:ext cx="2651760" cy="6858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普通合伙人（GP）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符发（您）— 100%执行权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286000"/>
            <a:ext cx="0" cy="320040"/>
          </a:xfrm>
          <a:prstGeom prst="line">
            <a:avLst/>
          </a:prstGeom>
          <a:noFill/>
          <a:ln w="19050">
            <a:solidFill>
              <a:srgbClr val="C994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97280" y="2697480"/>
            <a:ext cx="2651760" cy="685800"/>
          </a:xfrm>
          <a:prstGeom prst="rect">
            <a:avLst/>
          </a:prstGeom>
          <a:solidFill>
            <a:srgbClr val="0A6B6B">
              <a:alpha val="70000"/>
            </a:srgbClr>
          </a:solidFill>
          <a:ln w="12700">
            <a:solidFill>
              <a:srgbClr val="0A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有限合伙人（LP）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10名骨干 — 仅享受分红权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05840"/>
            <a:ext cx="73152" cy="1691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离职即退伙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14630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离开公司（辞职/辞退/退休）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LP份额强制转让给GP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转让价：原始出资×(1+银行存款利率)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100584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005840"/>
            <a:ext cx="73152" cy="1691640"/>
          </a:xfrm>
          <a:prstGeom prst="rect">
            <a:avLst/>
          </a:prstGeom>
          <a:solidFill>
            <a:srgbClr val="D4841A"/>
          </a:solidFill>
          <a:ln/>
        </p:spPr>
      </p:sp>
      <p:sp>
        <p:nvSpPr>
          <p:cNvPr id="21" name="Text 19"/>
          <p:cNvSpPr/>
          <p:nvPr/>
        </p:nvSpPr>
        <p:spPr>
          <a:xfrm>
            <a:off x="6885432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岗位绑定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85432" y="14630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 → 按新职级增加LP份额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 → 按新职级调减LP份额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职务调整 → 份额同步调整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880360"/>
            <a:ext cx="73152" cy="1691640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971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锁定期限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333756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骨干承诺：取得LP份额后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3年内不得离职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违反则触发强制回购条款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20840" y="288036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0840" y="2880360"/>
            <a:ext cx="73152" cy="16916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9" name="Text 27"/>
          <p:cNvSpPr/>
          <p:nvPr/>
        </p:nvSpPr>
        <p:spPr>
          <a:xfrm>
            <a:off x="6885432" y="2971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竞业限制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85432" y="333756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离职后2年内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不得从事同类检测业务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违反则LP份额无偿收回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794760"/>
            <a:ext cx="3931920" cy="1097280"/>
          </a:xfrm>
          <a:prstGeom prst="rect">
            <a:avLst/>
          </a:prstGeom>
          <a:solidFill>
            <a:srgbClr val="0F2B46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794760"/>
            <a:ext cx="3931920" cy="3657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法律依据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206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《合伙企业法》第68条：LP不执行合伙事务，无表决权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《合伙企业法》第72条：GP对合伙企业债务承担无限连带责任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税务影响分析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0" cy="8869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个人所得税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1481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143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估值低于实缴（200万 &lt; 290万）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所有股东均为亏损转让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84248"/>
            <a:ext cx="1371600" cy="886968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12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2121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印花税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24597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900元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0" y="21214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转让金额200万 × 0.05%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1000元（实缴约900元）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62656"/>
            <a:ext cx="1371600" cy="8869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91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65960" y="3099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企业所得税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89120" y="30998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本次仅变更股权结构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不涉及资产转让或处置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41064"/>
            <a:ext cx="1371600" cy="886968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696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叠加优惠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65960" y="4078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海南自贸港优惠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65960" y="4416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389120" y="407822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控股公司注册在海南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享受15%企业所得税（未来）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注：以上为基于当前信息的初步测算，实际税务以主管税务局最终认定为准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0A6B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115568"/>
            <a:ext cx="2743200" cy="0"/>
          </a:xfrm>
          <a:prstGeom prst="line">
            <a:avLst/>
          </a:prstGeom>
          <a:noFill/>
          <a:ln w="25400">
            <a:solidFill>
              <a:srgbClr val="C99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全体股东确认本方案，签署《股权架构调整意向书》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股东全体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84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0848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委托有资质评估机构，启动净资产评估程序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符发/财务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52344"/>
            <a:ext cx="457200" cy="457200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980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7980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与海口税务局就转让定价及免税口径进行预沟通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1363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财务/法务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112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5112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确定10名骨干名单及初始LP份额分配方案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8496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符发/人事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78808"/>
            <a:ext cx="457200" cy="457200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24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224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启动工商核名（京王控股 + 京王合伙企业）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5628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行政/代理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0A6B6B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预计完成周期：2个月  ·  税务成本：极低  ·  决策效率：大幅提升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股权架构调整方案</dc:title>
  <dc:subject>PptxGenJS Presentation</dc:subject>
  <dc:creator>QClaw</dc:creator>
  <cp:lastModifiedBy>QClaw</cp:lastModifiedBy>
  <cp:revision>1</cp:revision>
  <dcterms:created xsi:type="dcterms:W3CDTF">2026-04-17T07:42:37Z</dcterms:created>
  <dcterms:modified xsi:type="dcterms:W3CDTF">2026-04-17T07:42:37Z</dcterms:modified>
</cp:coreProperties>
</file>